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(≈20 s) Somos el Equipo Maravilla del Tecnológico Superior de Irapuato. Reto: Tecnologías para el Entretenimiento. Esto es DivierteTEC.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(≈35 s) El mercado mexicano superó los 39 mil millones de pesos en 2023, pero solo hay 67 empresas que hacen videojuegos. Y quien juega, juega más de dos horas al día. El público existe; lo que falta es una vitrina donde un estudiante publique, pruebe y cobre por su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(≈30 s) DivierteTEC es la tienda de videojuegos de los estudiantes del TecNM. Es un sitio web: se juega con un clic, en el navegador. El prototipo que verán funciona incluso sin conexión. Todo lo que ven aquí funciona hoy y lo mostraremos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(≈30 s) La plataforma ya tiene 7 juegos jugables hechos por nuestro equipo: desde Mecaquack, nuestro juego educativo de la fase local, hasta Furia TEC y Aerodron 3D, con motores 3D propios que corren en el navegador y aceptan mandos con vibración.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(≈35 s) En DivierteTEC hay tres perfiles. El usuario se registra gratis y juega, colecciona logros, reseña y agrega amigos. El desarrollador es exclusivo para estudiantes del TecNM: verifica su cuenta, envía su solicitud y, al aprobarse, publica sus juegos y ve sus ventas. El administrador es una cuenta interna que revisa juegos, aprueba solicitudes y modera la comunidad.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(≈25 s) Para el jugador es como Steam: tienda, biblioteca, logros que dan recompensas para su perfil y reseñas que solo escribe quien jugó dos horas. Y ningún juego gratuito tiene barrera: es Paga lo que quieras.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(≈25 s) Para un estudio del TecNM, publicar es gratis: sube su juego, agrega logros con una línea de código, diseña su página con un editor visual, pasa una revisión de contenido y llega a la tienda, donde ve sus ventas y estadísticas.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(≈25 s) Para proteger a la comunidad, cualquier estudiante del TecNM puede pedir ser desarrollador: muestra su trabajo previo, explica por qué y verifica su identidad; la administración lo aprueba con criterios. Además, cualquier cuenta puede verificar que es del TecNM con su correo institucional, número de control y credencial, y obtiene beneficios exclusivos: el Pase con 30 % de descuento para jugadores y la Semilla TEC con comisión preferente para estudios.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(≈30 s) Así fluye la plataforma. El estudio, con su cuenta de desarrollador ya aprobada, sube su juego, integra logros y envía a revisión. La administración revisa 10 criterios: si falta algo, regresa al estudio; si se aprueba, se publica. El jugador lo juega al instante, apoya al estudio y reseña. Y los ingresos y opiniones regresan al estudio para mejorar.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(≈30 s) Lo construimos a prueba y error: teníamos una idea, la probábamos en el navegador, algo fallaba, lo ajustábamos y volvíamos a probar, una y otra vez, hasta llegar a lo que ven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(≈45 s) Nuestro modelo: ganamos cuando el estudio gana. Todo juego gratuito es Paga lo que quieras. Cada juego de un estudio del TecNM no paga comisión en sus 3 primeras semanas y después paga 12 %. El 70 % del Pase va a los estudios. Además, de nuestra comisión absorbemos un 5 % de cada venta para el Centro de Educación Ambiental del Parque Irekua en Irapuato: el estudio recibe lo mismo. Y no es una apuesta a ciegas: itch.io y Humble Bundle ya demostraron el «paga lo que quieras», y Epic atrajo estudios cobrando 12 % frente al 30 % de Steam.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(≈35 s) Validamos con SCAMPER sobre cambios reales: sustituimos emojis por arte propio, combinamos tienda, biblioteca y SDK, adaptamos Mecaquack, modificamos las reseñas, le dimos otro uso como medio de aprendizaje, eliminamos la barrera de pago y reordenamos la bienvenida para jugar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(≈30 s) Inclusión y equidad: cualquier alumno puede dar a conocer sus videojuegos, gratis, y los estudiantes verificados del TecNM reciben beneficios exclusivos. Impacto social: impulsa habilidades tecnológicas y un apoyo económico a los estudios. Sustentabilidad: es 100 % digital y un 5 % de cada venta va al Centro de Educación Ambiental del Parque Irekua. Tecnologías emergentes: 3D en el navegador, mandos con vibración y un prototipo que funciona sin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(≈15 s) Cada partida en DivierteTEC impulsa a un estudio mexicano. Gracias. Ahora, véanlo funcionar. [Pasar a la plataforma para la demostración.]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image" Target="../media/image-14-7.jpg"/><Relationship Id="rId8" Type="http://schemas.openxmlformats.org/officeDocument/2006/relationships/image" Target="../media/image-14-8.jpg"/><Relationship Id="rId9" Type="http://schemas.openxmlformats.org/officeDocument/2006/relationships/image" Target="../media/image-14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ivierteTEC/presentacion/img/landing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4069080" cy="2542032"/>
          </a:xfrm>
          <a:prstGeom prst="rect">
            <a:avLst/>
          </a:prstGeom>
        </p:spPr>
      </p:pic>
      <p:pic>
        <p:nvPicPr>
          <p:cNvPr id="3" name="Image 1" descr="/home/user/DivierteTEC/presentacion/img/furia.jp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4069080" y="0"/>
            <a:ext cx="4069080" cy="2542032"/>
          </a:xfrm>
          <a:prstGeom prst="rect">
            <a:avLst/>
          </a:prstGeom>
        </p:spPr>
      </p:pic>
      <p:pic>
        <p:nvPicPr>
          <p:cNvPr id="4" name="Image 2" descr="/home/user/DivierteTEC/presentacion/img/tienda.jp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138160" y="0"/>
            <a:ext cx="4069080" cy="2542032"/>
          </a:xfrm>
          <a:prstGeom prst="rect">
            <a:avLst/>
          </a:prstGeom>
        </p:spPr>
      </p:pic>
      <p:pic>
        <p:nvPicPr>
          <p:cNvPr id="5" name="Image 3" descr="/home/user/DivierteTEC/presentacion/img/aerodron.jp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2542032"/>
            <a:ext cx="4069080" cy="2542032"/>
          </a:xfrm>
          <a:prstGeom prst="rect">
            <a:avLst/>
          </a:prstGeom>
        </p:spPr>
      </p:pic>
      <p:pic>
        <p:nvPicPr>
          <p:cNvPr id="6" name="Image 4" descr="/home/user/DivierteTEC/presentacion/img/biblioteca.jpg">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4069080" y="2542032"/>
            <a:ext cx="4069080" cy="2542032"/>
          </a:xfrm>
          <a:prstGeom prst="rect">
            <a:avLst/>
          </a:prstGeom>
        </p:spPr>
      </p:pic>
      <p:pic>
        <p:nvPicPr>
          <p:cNvPr id="7" name="Image 5" descr="/home/user/DivierteTEC/presentacion/img/juego.jpg">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8138160" y="2542032"/>
            <a:ext cx="4069080" cy="2542032"/>
          </a:xfrm>
          <a:prstGeom prst="rect">
            <a:avLst/>
          </a:prstGeom>
        </p:spPr>
      </p:pic>
      <p:pic>
        <p:nvPicPr>
          <p:cNvPr id="8" name="Image 6" descr="/home/user/DivierteTEC/presentacion/img/perfil.jpg">    </p:cNvPr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0" y="5084064"/>
            <a:ext cx="4069080" cy="2542032"/>
          </a:xfrm>
          <a:prstGeom prst="rect">
            <a:avLst/>
          </a:prstGeom>
        </p:spPr>
      </p:pic>
      <p:pic>
        <p:nvPicPr>
          <p:cNvPr id="9" name="Image 7" descr="/home/user/DivierteTEC/presentacion/img/editor.jpg">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4069080" y="5084064"/>
            <a:ext cx="4069080" cy="2542032"/>
          </a:xfrm>
          <a:prstGeom prst="rect">
            <a:avLst/>
          </a:prstGeom>
        </p:spPr>
      </p:pic>
      <p:pic>
        <p:nvPicPr>
          <p:cNvPr id="10" name="Image 8" descr="/home/user/DivierteTEC/presentacion/img/pase.jpg">    </p:cNvPr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8138160" y="5084064"/>
            <a:ext cx="4069080" cy="2542032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>
              <a:alpha val="82000"/>
            </a:srgbClr>
          </a:solidFill>
          <a:ln w="12700">
            <a:solidFill>
              <a:srgbClr val="0B1A3A">
                <a:alpha val="0"/>
              </a:srgbClr>
            </a:solidFill>
            <a:prstDash val="solid"/>
          </a:ln>
        </p:spPr>
      </p:sp>
      <p:sp>
        <p:nvSpPr>
          <p:cNvPr id="12" name="Shape 1"/>
          <p:cNvSpPr/>
          <p:nvPr/>
        </p:nvSpPr>
        <p:spPr>
          <a:xfrm>
            <a:off x="548640" y="2148840"/>
            <a:ext cx="1234440" cy="1234440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3" name="Text 2"/>
          <p:cNvSpPr txBox="1"/>
          <p:nvPr/>
        </p:nvSpPr>
        <p:spPr>
          <a:xfrm>
            <a:off x="548640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000" dirty="0"/>
          </a:p>
        </p:txBody>
      </p:sp>
      <p:sp>
        <p:nvSpPr>
          <p:cNvPr id="14" name="Text 3"/>
          <p:cNvSpPr txBox="1"/>
          <p:nvPr/>
        </p:nvSpPr>
        <p:spPr>
          <a:xfrm>
            <a:off x="2011680" y="2011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96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9600" dirty="0"/>
          </a:p>
        </p:txBody>
      </p:sp>
      <p:sp>
        <p:nvSpPr>
          <p:cNvPr id="15" name="Text 4"/>
          <p:cNvSpPr txBox="1"/>
          <p:nvPr/>
        </p:nvSpPr>
        <p:spPr>
          <a:xfrm>
            <a:off x="54864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en el TecNM. Jugado en todo México.</a:t>
            </a:r>
            <a:endParaRPr lang="en-US" sz="2800" dirty="0"/>
          </a:p>
        </p:txBody>
      </p:sp>
      <p:sp>
        <p:nvSpPr>
          <p:cNvPr id="16" name="Shape 5"/>
          <p:cNvSpPr/>
          <p:nvPr/>
        </p:nvSpPr>
        <p:spPr>
          <a:xfrm>
            <a:off x="548640" y="4389120"/>
            <a:ext cx="4023360" cy="457200"/>
          </a:xfrm>
          <a:prstGeom prst="rect">
            <a:avLst/>
          </a:prstGeom>
          <a:solidFill>
            <a:srgbClr val="0B1A3A">
              <a:alpha val="70000"/>
            </a:srgbClr>
          </a:solidFill>
          <a:ln w="12700">
            <a:solidFill>
              <a:srgbClr val="6F83AA"/>
            </a:solidFill>
            <a:prstDash val="solid"/>
          </a:ln>
        </p:spPr>
      </p:sp>
      <p:sp>
        <p:nvSpPr>
          <p:cNvPr id="17" name="Text 6"/>
          <p:cNvSpPr txBox="1"/>
          <p:nvPr/>
        </p:nvSpPr>
        <p:spPr>
          <a:xfrm>
            <a:off x="713232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para el Entretenimiento</a:t>
            </a:r>
            <a:endParaRPr lang="en-US" sz="1100" dirty="0"/>
          </a:p>
        </p:txBody>
      </p:sp>
      <p:sp>
        <p:nvSpPr>
          <p:cNvPr id="18" name="Shape 7"/>
          <p:cNvSpPr/>
          <p:nvPr/>
        </p:nvSpPr>
        <p:spPr>
          <a:xfrm>
            <a:off x="4754880" y="4389120"/>
            <a:ext cx="6035040" cy="457200"/>
          </a:xfrm>
          <a:prstGeom prst="rect">
            <a:avLst/>
          </a:prstGeom>
          <a:solidFill>
            <a:srgbClr val="0B1A3A">
              <a:alpha val="70000"/>
            </a:srgbClr>
          </a:solidFill>
          <a:ln w="12700">
            <a:solidFill>
              <a:srgbClr val="6F83AA"/>
            </a:solidFill>
            <a:prstDash val="solid"/>
          </a:ln>
        </p:spPr>
      </p:sp>
      <p:sp>
        <p:nvSpPr>
          <p:cNvPr id="19" name="Text 8"/>
          <p:cNvSpPr txBox="1"/>
          <p:nvPr/>
        </p:nvSpPr>
        <p:spPr>
          <a:xfrm>
            <a:off x="4919472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TEMÁTICA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Impulso de la industria del Entretenimiento en México</a:t>
            </a:r>
            <a:endParaRPr lang="en-US" sz="1100" dirty="0"/>
          </a:p>
        </p:txBody>
      </p:sp>
      <p:sp>
        <p:nvSpPr>
          <p:cNvPr id="20" name="Text 9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Maravilla · Instituto Tecnológico Superior de Irapuato</a:t>
            </a: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7985455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HackaTec Regional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 juega mucho,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produce poco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 millones de pesos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videojuegos en México, 2023 · Statista (vía El Universal)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057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de videojuegos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≈2,400 empleos en todo el país · Endeavor (vía DPL News)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057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8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al día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Juega quien juega videojuegos · IFT, ENCCA 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solidFill>
            <a:srgbClr val="0B1A3A"/>
          </a:solidFill>
          <a:ln w="12700">
            <a:solidFill>
              <a:srgbClr val="0B1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98348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público. Falta </a:t>
            </a:r>
            <a:pPr indent="0" marL="0">
              <a:buNone/>
            </a:pPr>
            <a:r>
              <a:rPr lang="en-US" sz="2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vitrina para el talento estudiantil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DivierteTEC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tienda de videojuegos de los estudiantes del TecNM.</a:t>
            </a:r>
            <a:endParaRPr lang="en-US" sz="2000" dirty="0"/>
          </a:p>
        </p:txBody>
      </p:sp>
      <p:pic>
        <p:nvPicPr>
          <p:cNvPr id="5" name="Image 0" descr="/home/user/DivierteTEC/presentacion/img/lan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822960"/>
            <a:ext cx="6949440" cy="4343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206240" y="1371600"/>
            <a:ext cx="1778508" cy="420624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06240" y="1371600"/>
            <a:ext cx="17785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Juega en 1 clic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63840" y="4754880"/>
            <a:ext cx="3776472" cy="420624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4754880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 · prototipo sin conexión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89120" y="5257800"/>
            <a:ext cx="1988820" cy="420624"/>
          </a:xfrm>
          <a:prstGeom prst="rect">
            <a:avLst/>
          </a:prstGeom>
          <a:solidFill>
            <a:srgbClr val="0B1A3A"/>
          </a:solidFill>
          <a:ln w="12700">
            <a:solidFill>
              <a:srgbClr val="0B1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5257800"/>
            <a:ext cx="1988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en el TecNM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REALES, JUGABLES 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2D a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en el navegador</a:t>
            </a:r>
            <a:endParaRPr lang="en-US" sz="3800" dirty="0"/>
          </a:p>
        </p:txBody>
      </p:sp>
      <p:pic>
        <p:nvPicPr>
          <p:cNvPr id="4" name="Image 0" descr="/home/user/DivierteTEC/presentacion/img/aerodr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3840480" cy="24003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5" name="Image 1" descr="/home/user/DivierteTEC/presentacion/img/jue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514600"/>
            <a:ext cx="3840480" cy="24003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6" name="Image 2" descr="/home/user/DivierteTEC/presentacion/img/furi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48840"/>
            <a:ext cx="5029200" cy="314325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548640" y="2057400"/>
            <a:ext cx="1357884" cy="420624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2057400"/>
            <a:ext cx="13578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Aerodron 3D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440680" y="1691640"/>
            <a:ext cx="1147572" cy="420624"/>
          </a:xfrm>
          <a:prstGeom prst="rect">
            <a:avLst/>
          </a:prstGeom>
          <a:solidFill>
            <a:srgbClr val="0B1A3A"/>
          </a:solidFill>
          <a:ln w="12700">
            <a:solidFill>
              <a:srgbClr val="0B1A3A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440680" y="1691640"/>
            <a:ext cx="11475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Furia TEC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362895" y="2057400"/>
            <a:ext cx="1147572" cy="420624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362895" y="2057400"/>
            <a:ext cx="11475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Mecaquack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juegos del Equipo Maravilla · motores 3D propios en WebGL · mandos con vibración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PERFILES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vive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DivierteTEC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1168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3012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Juega al instante en el navegador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Biblioteca, logros y recompensas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Reseñas, amigos y el Pase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2966618" cy="10515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4617720"/>
            <a:ext cx="26922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serlo: </a:t>
            </a:r>
            <a:pPr indent="0" marL="0">
              <a:buNone/>
            </a:pPr>
            <a:r>
              <a:rPr lang="en-US" sz="135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registrarse gratis. Si es del TecNM, verifica su cuenta y obtiene beneficios.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38218" y="1737360"/>
            <a:ext cx="351525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2538" y="201168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217627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35498" y="201168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8803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VIVE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3200400"/>
            <a:ext cx="3012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sus juegos y diseña su página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con el SDK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Ventas, estadísticas y Semilla TEC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612538" y="4617720"/>
            <a:ext cx="2966618" cy="1051560"/>
          </a:xfrm>
          <a:prstGeom prst="rect">
            <a:avLst/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49698" y="4617720"/>
            <a:ext cx="26922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serlo: </a:t>
            </a:r>
            <a:pPr indent="0" marL="0">
              <a:buNone/>
            </a:pPr>
            <a:r>
              <a:rPr lang="en-US" sz="135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 del TecNM verificado</a:t>
            </a:r>
            <a:pPr indent="0" marL="0">
              <a:buNone/>
            </a:pPr>
            <a:r>
              <a:rPr lang="en-US" sz="135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tener aprobada su solicitud (trabajo previo, motivo e identidad).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127797" y="1737360"/>
            <a:ext cx="351525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02117" y="201168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2176272"/>
            <a:ext cx="356616" cy="35661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225077" y="2011680"/>
            <a:ext cx="2235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8402117" y="28803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VIVE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402117" y="3200400"/>
            <a:ext cx="3012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juegos con criterios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 solicitudes y verificaciones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 reportes y ve finanzas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8402117" y="4617720"/>
            <a:ext cx="2966618" cy="1051560"/>
          </a:xfrm>
          <a:prstGeom prst="rect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539277" y="4617720"/>
            <a:ext cx="26922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serlo: </a:t>
            </a:r>
            <a:pPr indent="0" marL="0">
              <a:buNone/>
            </a:pPr>
            <a:r>
              <a:rPr lang="en-US" sz="135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interna que asigna el equipo de DivierteTEC; no se solicita.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Jugar es para todos · publicar es exclusivo para estudiantes del TecNM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JUGADORES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Steam,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nuestro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y biblioteca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8968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743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con recompensas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654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tras 2 h de juego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6341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480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lo que quieras</a:t>
            </a:r>
            <a:endParaRPr lang="en-US" sz="2100" dirty="0"/>
          </a:p>
        </p:txBody>
      </p:sp>
      <p:pic>
        <p:nvPicPr>
          <p:cNvPr id="16" name="Image 4" descr="/home/user/DivierteTEC/presentacion/img/tiend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6459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17" name="Image 5" descr="/home/user/DivierteTEC/presentacion/img/bibliotec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3317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18" name="Image 6" descr="/home/user/DivierteTEC/presentacion/img/perfil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0175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sp>
        <p:nvSpPr>
          <p:cNvPr id="19" name="Text 1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20" name="Text 1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ESTUDIOS DEL TECNM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es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y rápido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HTML5, C++ o EXE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8968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743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 su página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654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contenido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6341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480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y estadísticas</a:t>
            </a:r>
            <a:endParaRPr lang="en-US" sz="2100" dirty="0"/>
          </a:p>
        </p:txBody>
      </p:sp>
      <p:pic>
        <p:nvPicPr>
          <p:cNvPr id="16" name="Image 4" descr="/home/user/DivierteTEC/presentacion/img/edito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6459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17" name="Image 5" descr="/home/user/DivierteTEC/presentacion/img/revision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3317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18" name="Image 6" descr="/home/user/DivierteTEC/presentacion/img/venta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0175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sp>
        <p:nvSpPr>
          <p:cNvPr id="19" name="Text 10"/>
          <p:cNvSpPr txBox="1"/>
          <p:nvPr/>
        </p:nvSpPr>
        <p:spPr>
          <a:xfrm>
            <a:off x="54864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con una línea de código · prueba antes de publicar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para ser dev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8968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743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Trabajo, motivo e identidad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654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TecNM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63417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480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exclusivos</a:t>
            </a:r>
            <a:endParaRPr lang="en-US" sz="2100" dirty="0"/>
          </a:p>
        </p:txBody>
      </p:sp>
      <p:pic>
        <p:nvPicPr>
          <p:cNvPr id="16" name="Image 4" descr="/home/user/DivierteTEC/presentacion/img/solicitu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6459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17" name="Image 5" descr="/home/user/DivierteTEC/presentacion/img/verificacion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3317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pic>
        <p:nvPicPr>
          <p:cNvPr id="18" name="Image 6" descr="/home/user/DivierteTEC/presentacion/img/solicitude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017520"/>
            <a:ext cx="4754880" cy="2971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pic>
      <p:sp>
        <p:nvSpPr>
          <p:cNvPr id="19" name="Text 10"/>
          <p:cNvSpPr txBox="1"/>
          <p:nvPr/>
        </p:nvSpPr>
        <p:spPr>
          <a:xfrm>
            <a:off x="54864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institucional + número de control + credencial · la administración aprueba con criterios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fluye DivierteTEC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88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944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63240"/>
            <a:ext cx="1188720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9441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434840"/>
            <a:ext cx="1188720" cy="1325880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3484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02082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1EB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20208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su juego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de dev aprobada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02082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1EB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0208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con SDK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202082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1EB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0208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 su página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202082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0208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a revisión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230428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30428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69680" y="230428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0" y="339242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3F5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0" y="33924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criterios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contenido · 4 automáticos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339242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33924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¿Aprobado?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95560" y="2587752"/>
            <a:ext cx="0" cy="804672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8869680" y="367588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3063240" y="3675888"/>
            <a:ext cx="3703320" cy="0"/>
          </a:xfrm>
          <a:prstGeom prst="line">
            <a:avLst/>
          </a:prstGeom>
          <a:noFill/>
          <a:ln w="28575">
            <a:solidFill>
              <a:srgbClr val="E0467C"/>
            </a:solidFill>
            <a:prstDash val="dash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3063240" y="2587752"/>
            <a:ext cx="0" cy="1088136"/>
          </a:xfrm>
          <a:prstGeom prst="line">
            <a:avLst/>
          </a:prstGeom>
          <a:noFill/>
          <a:ln w="28575">
            <a:solidFill>
              <a:srgbClr val="E0467C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200400" y="3346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pide cambios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11680" y="480974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11680" y="4809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89120" y="480974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A6FD8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0" y="4809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Juega al instante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66560" y="480974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4809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lo que quieras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 el Pase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144000" y="480974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0" y="4809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y reseña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 tras 2 h de juego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114800" y="509320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92240" y="509320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869680" y="5093208"/>
            <a:ext cx="274320" cy="0"/>
          </a:xfrm>
          <a:prstGeom prst="line">
            <a:avLst/>
          </a:prstGeom>
          <a:noFill/>
          <a:ln w="28575">
            <a:solidFill>
              <a:srgbClr val="1A6FD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818120" y="3959352"/>
            <a:ext cx="0" cy="40233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 flipH="1">
            <a:off x="3063240" y="4361688"/>
            <a:ext cx="475488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3063240" y="4361688"/>
            <a:ext cx="0" cy="44805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7927848" y="4005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Sí: se publica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1247120" y="5093208"/>
            <a:ext cx="286207" cy="0"/>
          </a:xfrm>
          <a:prstGeom prst="line">
            <a:avLst/>
          </a:prstGeom>
          <a:noFill/>
          <a:ln w="28575">
            <a:solidFill>
              <a:srgbClr val="E0467C"/>
            </a:solidFill>
            <a:prstDash val="dash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11533327" y="2304288"/>
            <a:ext cx="0" cy="2788920"/>
          </a:xfrm>
          <a:prstGeom prst="line">
            <a:avLst/>
          </a:prstGeom>
          <a:noFill/>
          <a:ln w="28575">
            <a:solidFill>
              <a:srgbClr val="E0467C"/>
            </a:solidFill>
            <a:prstDash val="dash"/>
            <a:tailEnd type="none"/>
          </a:ln>
        </p:spPr>
      </p:sp>
      <p:sp>
        <p:nvSpPr>
          <p:cNvPr id="50" name="Shape 48"/>
          <p:cNvSpPr/>
          <p:nvPr/>
        </p:nvSpPr>
        <p:spPr>
          <a:xfrm flipH="1">
            <a:off x="11247120" y="2304288"/>
            <a:ext cx="286207" cy="0"/>
          </a:xfrm>
          <a:prstGeom prst="line">
            <a:avLst/>
          </a:prstGeom>
          <a:noFill/>
          <a:ln w="28575">
            <a:solidFill>
              <a:srgbClr val="E0467C"/>
            </a:solidFill>
            <a:prstDash val="dash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6583680" y="5833872"/>
            <a:ext cx="4949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4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y opiniones regresan al estudio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DESARROLLO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lo construimos: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y error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463040" y="2286000"/>
            <a:ext cx="3200400" cy="3200400"/>
          </a:xfrm>
          <a:prstGeom prst="ellipse">
            <a:avLst/>
          </a:prstGeom>
          <a:solidFill>
            <a:srgbClr val="F3F6FB"/>
          </a:solidFill>
          <a:ln w="50800">
            <a:solidFill>
              <a:srgbClr val="1A6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8100000">
            <a:off x="4039304" y="2599240"/>
            <a:ext cx="310896" cy="310896"/>
          </a:xfrm>
          <a:prstGeom prst="triangl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3500000">
            <a:off x="4039304" y="4862264"/>
            <a:ext cx="310896" cy="310896"/>
          </a:xfrm>
          <a:prstGeom prst="triangl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900000">
            <a:off x="1776280" y="4862264"/>
            <a:ext cx="310896" cy="310896"/>
          </a:xfrm>
          <a:prstGeom prst="triangl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776280" y="2599240"/>
            <a:ext cx="310896" cy="310896"/>
          </a:xfrm>
          <a:prstGeom prst="triangl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0116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A6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31920" y="3611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A6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31720" y="52120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DECF2"/>
          </a:solidFill>
          <a:ln w="25400">
            <a:solidFill>
              <a:srgbClr val="E0467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2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A6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repite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que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flipV="1">
            <a:off x="6160770" y="4783455"/>
            <a:ext cx="360045" cy="257175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520815" y="4612005"/>
            <a:ext cx="360045" cy="171450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80860" y="4612005"/>
            <a:ext cx="360045" cy="308610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240905" y="4526280"/>
            <a:ext cx="360045" cy="394335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7600950" y="4269105"/>
            <a:ext cx="360045" cy="257175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960995" y="4097655"/>
            <a:ext cx="360045" cy="171450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4097655"/>
            <a:ext cx="360045" cy="411480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681085" y="3969068"/>
            <a:ext cx="360045" cy="540067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041130" y="3754755"/>
            <a:ext cx="360045" cy="214313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01175" y="3754755"/>
            <a:ext cx="360045" cy="360045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761220" y="3497580"/>
            <a:ext cx="360045" cy="617220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121265" y="3154680"/>
            <a:ext cx="360045" cy="342900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0481310" y="2794635"/>
            <a:ext cx="360045" cy="360045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0841355" y="2400300"/>
            <a:ext cx="394335" cy="394335"/>
          </a:xfrm>
          <a:prstGeom prst="line">
            <a:avLst/>
          </a:prstGeom>
          <a:noFill/>
          <a:ln w="44450">
            <a:solidFill>
              <a:srgbClr val="1A6F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9330" y="4949190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9375" y="4692015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89420" y="4520565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03745" y="4783455"/>
            <a:ext cx="274320" cy="274320"/>
          </a:xfrm>
          <a:prstGeom prst="ellipse">
            <a:avLst/>
          </a:prstGeom>
          <a:solidFill>
            <a:srgbClr val="E046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03745" y="4783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09510" y="4434840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9555" y="4177665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4006215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43925" y="4371975"/>
            <a:ext cx="274320" cy="274320"/>
          </a:xfrm>
          <a:prstGeom prst="ellipse">
            <a:avLst/>
          </a:prstGeom>
          <a:solidFill>
            <a:srgbClr val="E046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43925" y="43719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49690" y="3877628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09735" y="3663315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24060" y="3977640"/>
            <a:ext cx="274320" cy="274320"/>
          </a:xfrm>
          <a:prstGeom prst="ellipse">
            <a:avLst/>
          </a:prstGeom>
          <a:solidFill>
            <a:srgbClr val="E046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2406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29825" y="3406140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89870" y="3063240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49915" y="2703195"/>
            <a:ext cx="182880" cy="182880"/>
          </a:xfrm>
          <a:prstGeom prst="ellipse">
            <a:avLst/>
          </a:prstGeom>
          <a:solidFill>
            <a:srgbClr val="1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007090" y="2171700"/>
            <a:ext cx="457200" cy="457200"/>
          </a:xfrm>
          <a:prstGeom prst="ellipse">
            <a:avLst/>
          </a:prstGeom>
          <a:solidFill>
            <a:srgbClr val="1F8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100709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9772650" y="17419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DivierteTEC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76072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intentos, varios tropiezos y un resultado que ya funciona.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Ganamos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estudio gana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7257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974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lo que quieras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10128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juega sin pagar; quien quiere, apoya al estudio.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04099" y="1737360"/>
            <a:ext cx="207257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5267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005267" y="26974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Semilla TEC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05267" y="3310128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primeras semanas de cada juego TecNM sin comisión; luego 12 %.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59558" y="1737360"/>
            <a:ext cx="207257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60726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260726" y="26974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Pase mensual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60726" y="3310128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suscripción va a los estudios, según el tiempo jugado.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017" y="1737360"/>
            <a:ext cx="2072579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16185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516185" y="26974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Destacados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16185" y="3310128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estudios pueden pagar por aparecer en portada.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70476" y="1737360"/>
            <a:ext cx="2072579" cy="2468880"/>
          </a:xfrm>
          <a:prstGeom prst="rect">
            <a:avLst/>
          </a:prstGeom>
          <a:solidFill>
            <a:srgbClr val="EEFAF2"/>
          </a:solidFill>
          <a:ln w="19050">
            <a:solidFill>
              <a:srgbClr val="1F8A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1644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5 %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9771644" y="2697480"/>
            <a:ext cx="17068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 Irekua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71644" y="3310128"/>
            <a:ext cx="1706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venta, lo absorbemos de nuestra comisión para educación ambiental.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1094415" cy="1645920"/>
          </a:xfrm>
          <a:prstGeom prst="rect">
            <a:avLst/>
          </a:prstGeom>
          <a:solidFill>
            <a:srgbClr val="0B1A3A"/>
          </a:solidFill>
          <a:ln w="12700">
            <a:solidFill>
              <a:srgbClr val="0B1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ANTECEDENTES · MODELOS QUE YA FUNCIONAN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919472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itch.io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«Paga lo que quieras» desde $0; el creador decide la comisión (10 % por defecto).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459404" y="4919472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Humble Bundle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2010 vende juegos indie a «paga lo que quieras».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095848" y="4919472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Games Store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12 % y atrajo estudios con esa comisión baja.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732291" y="4919472"/>
            <a:ext cx="24078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referencia: 30 % en su tramo estándar. Nosotros: 0 % a 12 %.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· SCAMPER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mejoramos el prototipo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5740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Sustituir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Emojis por arte propio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79394" y="178308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07994" y="20116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99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85234" y="205740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07994" y="27889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Tienda, biblioteca y SDK en uno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0148" y="178308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8748" y="20116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874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215988" y="205740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38748" y="27889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Mecaquack a la plataforma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40901" y="178308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9501" y="201168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9501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0046741" y="205740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269501" y="27889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tras 2 h de juego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964017" y="379476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92617" y="402336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92617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2969857" y="406908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usos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2192617" y="480060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de aprendizaje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94771" y="379476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3371" y="402336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3371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5800611" y="406908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5023371" y="480060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barrera de pago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25525" y="3794760"/>
            <a:ext cx="260215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54125" y="4023360"/>
            <a:ext cx="640080" cy="64008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54125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8631365" y="4069080"/>
            <a:ext cx="1413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Reordenar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7854125" y="480060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jugar, luego explicar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TRANSVERSALES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</a:t>
            </a:r>
            <a:pPr indent="0" marL="0">
              <a:buNone/>
            </a:pPr>
            <a:r>
              <a:rPr lang="en-US" sz="3800" b="1" dirty="0">
                <a:solidFill>
                  <a:srgbClr val="1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juego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215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Inclusión y equidad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14495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alumno publica sus videojuegos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es gratis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desde $0 en el navegador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exclusivos TecNM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79394" y="1737360"/>
            <a:ext cx="260215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3714" y="2011680"/>
            <a:ext cx="731520" cy="73152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279" y="21872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3714" y="28803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social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53714" y="3703320"/>
            <a:ext cx="214495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Impulsa habilidades tecnológicas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el entretenimiento mexicano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económico a los estudios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10148" y="1737360"/>
            <a:ext cx="260215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4468" y="2011680"/>
            <a:ext cx="731520" cy="7315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32" y="21872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84468" y="28803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Sustentabilidad y sostenibilidad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84468" y="3703320"/>
            <a:ext cx="214495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digital: sin discos, empaques ni envíos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5 % de cada venta al Parque Irekua (educación ambiental)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financia con comisiones bajas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040901" y="1737360"/>
            <a:ext cx="260215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A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15221" y="2011680"/>
            <a:ext cx="731520" cy="731520"/>
          </a:xfrm>
          <a:prstGeom prst="ellipse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786" y="218724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15221" y="2880360"/>
            <a:ext cx="2053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emergentes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315221" y="3703320"/>
            <a:ext cx="214495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en el navegador (WebGL)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Mandos con vibración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sin conexión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Divierte</a:t>
            </a:r>
            <a:pPr indent="0" marL="0">
              <a:buNone/>
            </a:pPr>
            <a:r>
              <a:rPr lang="en-US" sz="11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ivierteTEC/presentacion/img/juego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4069080" cy="2542032"/>
          </a:xfrm>
          <a:prstGeom prst="rect">
            <a:avLst/>
          </a:prstGeom>
        </p:spPr>
      </p:pic>
      <p:pic>
        <p:nvPicPr>
          <p:cNvPr id="3" name="Image 1" descr="/home/user/DivierteTEC/presentacion/img/aerodron.jp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4069080" y="0"/>
            <a:ext cx="4069080" cy="2542032"/>
          </a:xfrm>
          <a:prstGeom prst="rect">
            <a:avLst/>
          </a:prstGeom>
        </p:spPr>
      </p:pic>
      <p:pic>
        <p:nvPicPr>
          <p:cNvPr id="4" name="Image 2" descr="/home/user/DivierteTEC/presentacion/img/furia.jp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138160" y="0"/>
            <a:ext cx="4069080" cy="2542032"/>
          </a:xfrm>
          <a:prstGeom prst="rect">
            <a:avLst/>
          </a:prstGeom>
        </p:spPr>
      </p:pic>
      <p:pic>
        <p:nvPicPr>
          <p:cNvPr id="5" name="Image 3" descr="/home/user/DivierteTEC/presentacion/img/faq.jp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2542032"/>
            <a:ext cx="4069080" cy="2542032"/>
          </a:xfrm>
          <a:prstGeom prst="rect">
            <a:avLst/>
          </a:prstGeom>
        </p:spPr>
      </p:pic>
      <p:pic>
        <p:nvPicPr>
          <p:cNvPr id="6" name="Image 4" descr="/home/user/DivierteTEC/presentacion/img/pase.jpg">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4069080" y="2542032"/>
            <a:ext cx="4069080" cy="2542032"/>
          </a:xfrm>
          <a:prstGeom prst="rect">
            <a:avLst/>
          </a:prstGeom>
        </p:spPr>
      </p:pic>
      <p:pic>
        <p:nvPicPr>
          <p:cNvPr id="7" name="Image 5" descr="/home/user/DivierteTEC/presentacion/img/tienda.jpg">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8138160" y="2542032"/>
            <a:ext cx="4069080" cy="2542032"/>
          </a:xfrm>
          <a:prstGeom prst="rect">
            <a:avLst/>
          </a:prstGeom>
        </p:spPr>
      </p:pic>
      <p:pic>
        <p:nvPicPr>
          <p:cNvPr id="8" name="Image 6" descr="/home/user/DivierteTEC/presentacion/img/revision.jpg">    </p:cNvPr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0" y="5084064"/>
            <a:ext cx="4069080" cy="2542032"/>
          </a:xfrm>
          <a:prstGeom prst="rect">
            <a:avLst/>
          </a:prstGeom>
        </p:spPr>
      </p:pic>
      <p:pic>
        <p:nvPicPr>
          <p:cNvPr id="9" name="Image 7" descr="/home/user/DivierteTEC/presentacion/img/ventas.jpg">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4069080" y="5084064"/>
            <a:ext cx="4069080" cy="2542032"/>
          </a:xfrm>
          <a:prstGeom prst="rect">
            <a:avLst/>
          </a:prstGeom>
        </p:spPr>
      </p:pic>
      <p:pic>
        <p:nvPicPr>
          <p:cNvPr id="10" name="Image 8" descr="/home/user/DivierteTEC/presentacion/img/landing.jpg">    </p:cNvPr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8138160" y="5084064"/>
            <a:ext cx="4069080" cy="2542032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A">
              <a:alpha val="82000"/>
            </a:srgbClr>
          </a:solidFill>
          <a:ln w="12700">
            <a:solidFill>
              <a:srgbClr val="0B1A3A">
                <a:alpha val="0"/>
              </a:srgbClr>
            </a:solidFill>
            <a:prstDash val="solid"/>
          </a:ln>
        </p:spPr>
      </p:sp>
      <p:sp>
        <p:nvSpPr>
          <p:cNvPr id="12" name="Text 1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EN EL TECNM</a:t>
            </a:r>
            <a:endParaRPr lang="en-US" sz="1500" dirty="0"/>
          </a:p>
        </p:txBody>
      </p:sp>
      <p:sp>
        <p:nvSpPr>
          <p:cNvPr id="13" name="Text 2"/>
          <p:cNvSpPr txBox="1"/>
          <p:nvPr/>
        </p:nvSpPr>
        <p:spPr>
          <a:xfrm>
            <a:off x="54864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partida </a:t>
            </a:r>
            <a:pPr indent="0" marL="0">
              <a:buNone/>
            </a:pPr>
            <a:r>
              <a:rPr lang="en-US" sz="5400" b="1" dirty="0">
                <a:solidFill>
                  <a:srgbClr val="3D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impulsa a un estudio mexicano.</a:t>
            </a:r>
            <a:endParaRPr lang="en-US" sz="5400" dirty="0"/>
          </a:p>
        </p:txBody>
      </p:sp>
      <p:sp>
        <p:nvSpPr>
          <p:cNvPr id="14" name="Text 3"/>
          <p:cNvSpPr txBox="1"/>
          <p:nvPr/>
        </p:nvSpPr>
        <p:spPr>
          <a:xfrm>
            <a:off x="54864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Ahora, véanlo funcionar.</a:t>
            </a:r>
            <a:endParaRPr lang="en-US" sz="2800" dirty="0"/>
          </a:p>
        </p:txBody>
      </p:sp>
      <p:sp>
        <p:nvSpPr>
          <p:cNvPr id="15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Maravilla · Instituto Tecnológico Superior de Irapuato</a:t>
            </a:r>
            <a:endParaRPr lang="en-US" sz="1200" dirty="0"/>
          </a:p>
        </p:txBody>
      </p:sp>
      <p:sp>
        <p:nvSpPr>
          <p:cNvPr id="16" name="Text 5"/>
          <p:cNvSpPr txBox="1"/>
          <p:nvPr/>
        </p:nvSpPr>
        <p:spPr>
          <a:xfrm>
            <a:off x="7985455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HackaTec Regional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DivierteTEC · Presentación HackaTec 2026</dc:title>
  <dc:subject>PptxGenJS Presentation</dc:subject>
  <dc:creator>Equipo Maravilla</dc:creator>
  <cp:lastModifiedBy>Equipo Maravilla</cp:lastModifiedBy>
  <cp:revision>1</cp:revision>
  <dcterms:created xsi:type="dcterms:W3CDTF">2026-09-30T18:46:25Z</dcterms:created>
  <dcterms:modified xsi:type="dcterms:W3CDTF">2026-09-30T18:46:25Z</dcterms:modified>
</cp:coreProperties>
</file>